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51711f3f-2402-bd14-5aae-dc37f0b14cf7}">
          <p14:sldIdLst>
            <p14:sldId id="256"/>
          </p14:sldIdLst>
        </p14:section>
        <p14:section name="課題と方針" id="{53d816d7-2657-1685-ff6f-035d5e5c2d9c}">
          <p14:sldIdLst>
            <p14:sldId id="257"/>
            <p14:sldId id="258"/>
          </p14:sldIdLst>
        </p14:section>
        <p14:section name="利用の流れと画面" id="{cee01c35-7447-d7a8-d1e9-f8403ac04aee}">
          <p14:sldIdLst>
            <p14:sldId id="259"/>
            <p14:sldId id="260"/>
            <p14:sldId id="261"/>
          </p14:sldIdLst>
        </p14:section>
        <p14:section name="仕組み" id="{98089094-5ee1-ede4-4cec-5d2bd7bb6445}">
          <p14:sldIdLst>
            <p14:sldId id="262"/>
            <p14:sldId id="263"/>
            <p14:sldId id="264"/>
          </p14:sldIdLst>
        </p14:section>
        <p14:section name="検証" id="{e2ab1baf-b5c9-a1b8-05cd-57434daab2f2}">
          <p14:sldIdLst>
            <p14:sldId id="265"/>
            <p14:sldId id="266"/>
          </p14:sldIdLst>
        </p14:section>
        <p14:section name="これから" id="{26c3e896-dc84-445a-25cd-2b2c11132e4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睡眠時間の偏り</c:v>
                </c:pt>
              </c:strCache>
            </c:strRef>
          </c:tx>
          <c:spPr>
            <a:solidFill>
              <a:srgbClr val="7788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2F3F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788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788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788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788E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788E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788E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通常</c:v>
                  </c:pt>
                  <c:pt idx="1">
                    <c:v>短い睡眠</c:v>
                  </c:pt>
                  <c:pt idx="2">
                    <c:v>寝つき長い</c:v>
                  </c:pt>
                  <c:pt idx="3">
                    <c:v>覚醒が多い</c:v>
                  </c:pt>
                  <c:pt idx="4">
                    <c:v>2人で寝る</c:v>
                  </c:pt>
                  <c:pt idx="5">
                    <c:v>いびき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-19</c:v>
                </c:pt>
                <c:pt idx="1">
                  <c:v>-14</c:v>
                </c:pt>
                <c:pt idx="2">
                  <c:v>-16</c:v>
                </c:pt>
                <c:pt idx="3">
                  <c:v>-19</c:v>
                </c:pt>
                <c:pt idx="4">
                  <c:v>-34</c:v>
                </c:pt>
                <c:pt idx="5">
                  <c:v>-19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2F3F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BCD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40"/>
        </c:scaling>
        <c:delete val="0"/>
        <c:axPos val="l"/>
        <c:majorGridlines>
          <c:spPr>
            <a:ln w="9525" cap="flat">
              <a:solidFill>
                <a:srgbClr val="2C35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298C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ねむのきは、スマホを枕元に置くだけで眠りを記録し、スマートカーテンと連携して寝室の環境づくりを手伝うアプリです。今日は、課題、利用の流れ、主要な画面、AI の仕組み、技術構成、検証結果、未決事項の順に説明します。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対象は、寝つきが悪い人と、睡眠の質に悩みを抱えている人です。課題は 3 つあります。統計の数値を入れる場合は、出典を確認したうえでこのスライドに追加してください。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方針は 3 本柱です。記録はスマホのセンサーで自動化し、手入力をなくしました。カーテンの自動モードは、PRD のとおり初期値をオフにしています。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PRD 6 章の 5 つの手順を、画面でたどれるようにしました。初回設定で同意と置き方の確認を行い、寝室の画面でカーテンとアラームを設定します。寝る前はサウンドを選んで計測を始め、朝はスコアとアドバイスを見て、履歴で振り返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朝の画面です。ホームで昨夜のスコアと眠りの帯、アドバイスを見ます。履歴ではカレンダーから日付を選び、日別の詳細でスコアの内訳を確かめられます。取得できなかった時間は必ず表示し、推定値は推定と明記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夜と寝室の画面です。おやすみ画面から 1 タップで計測を始めます。アラームの止めるボタンは画面の下半分を使っています。カーテンは、命令が届いただけでは成功と表示せず、状態を確認できてから成功と表示します。PRD 5.3 の、実行済みと誤認させない表示への対応です。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センサーの値は端末の中で 30 秒ごとの特徴量に変え、生の値や録音は保存しません。まずデータの品質を判定し、分析できる夜だけ段階を推定してスコアを出します。フィードバックは 13 の規則から選び、責めない・断定しない表現にそろえています。外部の生成 AI は使わず、端末の中で完結します。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アプリ本体は C で書き、画面はすべて LVGL と SDL3 で作ります。OS の機能 30 項目を 1 つずつ調べ、権限の要求やトーストなど 18 項目は SDL3 と NDK の C の API で書けることを確認しました。Kotlin は、アラームの登録や夜間サービスなど、C の API がない 12 項目だけを担当し、8 クラス程度に収まる見込みです。詳しくは ADR-0004 と platform-boundary.md にまとめています。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PRD 5.2 のプライバシーとセキュリティの要件への対応です。録音は既定で保存しません。データは端末の中だけに暗号化して保存し、いつでも削除できます。自動モードは初期値がオフで、有効にする時に、自動で行うことを時刻入りで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実機がまだないため、正解の睡眠段階を持つ合成データで、仕様どおりに動くかを確かめました。これは実際の精度ではありません。睡眠時間は全体に短めに出る傾向があり、同じベッドに人がいると 34 分短くなりました。品質判定、フィードバックの規則、文言のチェックはすべて合格しました。机の上に置いた夜が 100 点になる失敗例を見つけ、スコアを出さない規則を追加しました。実際の精度は、実機がそろったら睡眠日誌と比べて確かめます。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デモは PC 版で行います。PC 版ではプラットフォーム層を代役に差し替えているので、時刻の早送りや、カーテンの失敗をわざと起こすことができます。実機の動画がある場合は、手順 3 と 5 を実機の動画に差し替えてください。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残っている決定事項は 5 つです。次は、設計をチームで確定し、リスクの高いアラームと一晩の計測を実機で試作します。そのあと MVP を実装し、PRD 7 章の受け入れ条件を確認します。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98C2"/>
                </a:solidFill>
              </a:rPr>
              <a:t>ねむのき ／ C-development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ねむのき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眠りを記録し、寝室を整える睡眠改善アプリ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298C2"/>
                </a:solidFill>
              </a:rPr>
              <a:t>一年次 共同開発 ／ 発表資料（案）</a:t>
            </a:r>
            <a:endParaRPr lang="en-US" sz="1400" dirty="0"/>
          </a:p>
        </p:txBody>
      </p:sp>
      <p:pic>
        <p:nvPicPr>
          <p:cNvPr id="5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566928" cy="566928"/>
          </a:xfrm>
          <a:prstGeom prst="rect">
            <a:avLst/>
          </a:prstGeom>
        </p:spPr>
      </p:pic>
      <p:sp>
        <p:nvSpPr>
          <p:cNvPr id="6" name="screen_night_frame"/>
          <p:cNvSpPr/>
          <p:nvPr/>
        </p:nvSpPr>
        <p:spPr>
          <a:xfrm>
            <a:off x="5760720" y="457200"/>
            <a:ext cx="1992829" cy="4206240"/>
          </a:xfrm>
          <a:prstGeom prst="roundRect">
            <a:avLst>
              <a:gd name="adj" fmla="val 6424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7" name="screen_night" descr="screen_n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502920"/>
            <a:ext cx="1901389" cy="4114800"/>
          </a:xfrm>
          <a:prstGeom prst="rect">
            <a:avLst/>
          </a:prstGeom>
        </p:spPr>
      </p:pic>
      <p:sp>
        <p:nvSpPr>
          <p:cNvPr id="8" name="screen_home_frame"/>
          <p:cNvSpPr/>
          <p:nvPr/>
        </p:nvSpPr>
        <p:spPr>
          <a:xfrm>
            <a:off x="7132320" y="731520"/>
            <a:ext cx="1908322" cy="4023360"/>
          </a:xfrm>
          <a:prstGeom prst="roundRect">
            <a:avLst>
              <a:gd name="adj" fmla="val 6708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9" name="screen_home" descr="screen_ho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777240"/>
            <a:ext cx="181688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解決したい課題</a:t>
            </a:r>
            <a:endParaRPr lang="en-US" sz="3000" dirty="0"/>
          </a:p>
        </p:txBody>
      </p:sp>
      <p:sp>
        <p:nvSpPr>
          <p:cNvPr id="3" name="problem_card_0"/>
          <p:cNvSpPr/>
          <p:nvPr/>
        </p:nvSpPr>
        <p:spPr>
          <a:xfrm>
            <a:off x="457200" y="1188720"/>
            <a:ext cx="2615184" cy="3246120"/>
          </a:xfrm>
          <a:prstGeom prst="roundRect">
            <a:avLst>
              <a:gd name="adj" fmla="val 4196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4" name="problem_icon_0_bg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rgbClr val="3A2347"/>
          </a:solidFill>
          <a:ln/>
        </p:spPr>
      </p:sp>
      <p:pic>
        <p:nvPicPr>
          <p:cNvPr id="5" name="problem_icon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6239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5915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F3FA"/>
                </a:solidFill>
              </a:rPr>
              <a:t>眠りの状態が分からない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44952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8BCD8"/>
                </a:solidFill>
              </a:rPr>
              <a:t>寝つきが悪い、眠りが浅いと感じても、何がどう悪いのか、何を変えればよいのかが分からない。</a:t>
            </a:r>
            <a:endParaRPr lang="en-US" sz="1300" dirty="0"/>
          </a:p>
        </p:txBody>
      </p:sp>
      <p:sp>
        <p:nvSpPr>
          <p:cNvPr id="8" name="problem_card_1"/>
          <p:cNvSpPr/>
          <p:nvPr/>
        </p:nvSpPr>
        <p:spPr>
          <a:xfrm>
            <a:off x="3264408" y="1188720"/>
            <a:ext cx="2615184" cy="3246120"/>
          </a:xfrm>
          <a:prstGeom prst="roundRect">
            <a:avLst>
              <a:gd name="adj" fmla="val 4196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9" name="problem_icon_1_bg"/>
          <p:cNvSpPr/>
          <p:nvPr/>
        </p:nvSpPr>
        <p:spPr>
          <a:xfrm>
            <a:off x="3538728" y="1463040"/>
            <a:ext cx="731520" cy="731520"/>
          </a:xfrm>
          <a:prstGeom prst="ellipse">
            <a:avLst/>
          </a:prstGeom>
          <a:solidFill>
            <a:srgbClr val="3A2347"/>
          </a:solidFill>
          <a:ln/>
        </p:spPr>
      </p:sp>
      <p:pic>
        <p:nvPicPr>
          <p:cNvPr id="10" name="problem_icon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662" y="162397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235915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F3FA"/>
                </a:solidFill>
              </a:rPr>
              <a:t>記録が続かない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3044952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8BCD8"/>
                </a:solidFill>
              </a:rPr>
              <a:t>毎朝の手入力や、腕に着ける機器の負担が大きいと、記録そのものをやめてしまう。</a:t>
            </a:r>
            <a:endParaRPr lang="en-US" sz="1300" dirty="0"/>
          </a:p>
        </p:txBody>
      </p:sp>
      <p:sp>
        <p:nvSpPr>
          <p:cNvPr id="13" name="problem_card_2"/>
          <p:cNvSpPr/>
          <p:nvPr/>
        </p:nvSpPr>
        <p:spPr>
          <a:xfrm>
            <a:off x="6071616" y="1188720"/>
            <a:ext cx="2615184" cy="3246120"/>
          </a:xfrm>
          <a:prstGeom prst="roundRect">
            <a:avLst>
              <a:gd name="adj" fmla="val 4196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4" name="problem_icon_2_bg"/>
          <p:cNvSpPr/>
          <p:nvPr/>
        </p:nvSpPr>
        <p:spPr>
          <a:xfrm>
            <a:off x="6345936" y="1463040"/>
            <a:ext cx="731520" cy="731520"/>
          </a:xfrm>
          <a:prstGeom prst="ellipse">
            <a:avLst/>
          </a:prstGeom>
          <a:solidFill>
            <a:srgbClr val="3A2347"/>
          </a:solidFill>
          <a:ln/>
        </p:spPr>
      </p:sp>
      <p:pic>
        <p:nvPicPr>
          <p:cNvPr id="15" name="problem_icon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0" y="162397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45936" y="235915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2F3FA"/>
                </a:solidFill>
              </a:rPr>
              <a:t>寝室の環境に気づけない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6345936" y="3044952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8BCD8"/>
                </a:solidFill>
              </a:rPr>
              <a:t>明け方の光や夜中の物音など、眠りを妨げているものに、自分では気づきにくい。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対象ユーザーと解決の方針</a:t>
            </a:r>
            <a:endParaRPr lang="en-US" sz="3000" dirty="0"/>
          </a:p>
        </p:txBody>
      </p:sp>
      <p:sp>
        <p:nvSpPr>
          <p:cNvPr id="3" name="persona_card"/>
          <p:cNvSpPr/>
          <p:nvPr/>
        </p:nvSpPr>
        <p:spPr>
          <a:xfrm>
            <a:off x="457200" y="1188720"/>
            <a:ext cx="3017520" cy="3246120"/>
          </a:xfrm>
          <a:prstGeom prst="roundRect">
            <a:avLst>
              <a:gd name="adj" fmla="val 3636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298C2"/>
                </a:solidFill>
              </a:rPr>
              <a:t>対象ユーザー</a:t>
            </a:r>
            <a:endParaRPr lang="en-US" sz="1300" dirty="0"/>
          </a:p>
        </p:txBody>
      </p:sp>
      <p:sp>
        <p:nvSpPr>
          <p:cNvPr id="5" name="persona1_icon_bg"/>
          <p:cNvSpPr/>
          <p:nvPr/>
        </p:nvSpPr>
        <p:spPr>
          <a:xfrm>
            <a:off x="731520" y="1810512"/>
            <a:ext cx="566928" cy="566928"/>
          </a:xfrm>
          <a:prstGeom prst="ellipse">
            <a:avLst/>
          </a:prstGeom>
          <a:solidFill>
            <a:srgbClr val="26306A"/>
          </a:solidFill>
          <a:ln/>
        </p:spPr>
      </p:sp>
      <p:pic>
        <p:nvPicPr>
          <p:cNvPr id="6" name="persona1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4" y="193523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3FA"/>
                </a:solidFill>
              </a:rPr>
              <a:t>寝つきが悪い人</a:t>
            </a:r>
            <a:endParaRPr lang="en-US" sz="1600" dirty="0"/>
          </a:p>
        </p:txBody>
      </p:sp>
      <p:sp>
        <p:nvSpPr>
          <p:cNvPr id="8" name="persona2_icon_bg"/>
          <p:cNvSpPr/>
          <p:nvPr/>
        </p:nvSpPr>
        <p:spPr>
          <a:xfrm>
            <a:off x="731520" y="2651760"/>
            <a:ext cx="566928" cy="566928"/>
          </a:xfrm>
          <a:prstGeom prst="ellipse">
            <a:avLst/>
          </a:prstGeom>
          <a:solidFill>
            <a:srgbClr val="26306A"/>
          </a:solidFill>
          <a:ln/>
        </p:spPr>
      </p:sp>
      <p:pic>
        <p:nvPicPr>
          <p:cNvPr id="9" name="persona2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44" y="277648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63347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3FA"/>
                </a:solidFill>
              </a:rPr>
              <a:t>睡眠の質に悩みを抱えている人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CD8"/>
                </a:solidFill>
              </a:rPr>
              <a:t>追加の機器を買わずに、今夜から始められることを重視する。</a:t>
            </a:r>
            <a:endParaRPr lang="en-US" sz="1300" dirty="0"/>
          </a:p>
        </p:txBody>
      </p:sp>
      <p:sp>
        <p:nvSpPr>
          <p:cNvPr id="12" name="pillar_0"/>
          <p:cNvSpPr/>
          <p:nvPr/>
        </p:nvSpPr>
        <p:spPr>
          <a:xfrm>
            <a:off x="3703320" y="1188720"/>
            <a:ext cx="4983480" cy="978408"/>
          </a:xfrm>
          <a:prstGeom prst="roundRect">
            <a:avLst>
              <a:gd name="adj" fmla="val 11215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3" name="pillar_icon_0_bg"/>
          <p:cNvSpPr/>
          <p:nvPr/>
        </p:nvSpPr>
        <p:spPr>
          <a:xfrm>
            <a:off x="3913632" y="1371600"/>
            <a:ext cx="612648" cy="612648"/>
          </a:xfrm>
          <a:prstGeom prst="ellipse">
            <a:avLst/>
          </a:prstGeom>
          <a:solidFill>
            <a:srgbClr val="3A2347"/>
          </a:solidFill>
          <a:ln/>
        </p:spPr>
      </p:sp>
      <p:pic>
        <p:nvPicPr>
          <p:cNvPr id="14" name="pillar_icon_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415" y="1506383"/>
            <a:ext cx="343083" cy="3430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09160" y="13167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3FA"/>
                </a:solidFill>
              </a:rPr>
              <a:t>記録・分析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709160" y="16459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CD8"/>
                </a:solidFill>
              </a:rPr>
              <a:t>スマホを枕元に置くだけで、体の動きといびきを記録し、毎朝スコアとアドバイスを出す</a:t>
            </a:r>
            <a:endParaRPr lang="en-US" sz="1250" dirty="0"/>
          </a:p>
        </p:txBody>
      </p:sp>
      <p:sp>
        <p:nvSpPr>
          <p:cNvPr id="17" name="pillar_1"/>
          <p:cNvSpPr/>
          <p:nvPr/>
        </p:nvSpPr>
        <p:spPr>
          <a:xfrm>
            <a:off x="3703320" y="2304288"/>
            <a:ext cx="4983480" cy="978408"/>
          </a:xfrm>
          <a:prstGeom prst="roundRect">
            <a:avLst>
              <a:gd name="adj" fmla="val 11215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8" name="pillar_icon_1_bg"/>
          <p:cNvSpPr/>
          <p:nvPr/>
        </p:nvSpPr>
        <p:spPr>
          <a:xfrm>
            <a:off x="3913632" y="2487168"/>
            <a:ext cx="612648" cy="612648"/>
          </a:xfrm>
          <a:prstGeom prst="ellipse">
            <a:avLst/>
          </a:prstGeom>
          <a:solidFill>
            <a:srgbClr val="3A2347"/>
          </a:solidFill>
          <a:ln/>
        </p:spPr>
      </p:sp>
      <p:pic>
        <p:nvPicPr>
          <p:cNvPr id="19" name="pillar_icon_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415" y="2621951"/>
            <a:ext cx="343083" cy="34308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709160" y="24323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3FA"/>
                </a:solidFill>
              </a:rPr>
              <a:t>寝室を整える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709160" y="27614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CD8"/>
                </a:solidFill>
              </a:rPr>
              <a:t>スマートカーテンを起きる前に自動で開け、寝るときに閉める（自動モードは初期オフ）</a:t>
            </a:r>
            <a:endParaRPr lang="en-US" sz="1250" dirty="0"/>
          </a:p>
        </p:txBody>
      </p:sp>
      <p:sp>
        <p:nvSpPr>
          <p:cNvPr id="22" name="pillar_2"/>
          <p:cNvSpPr/>
          <p:nvPr/>
        </p:nvSpPr>
        <p:spPr>
          <a:xfrm>
            <a:off x="3703320" y="3419856"/>
            <a:ext cx="4983480" cy="978408"/>
          </a:xfrm>
          <a:prstGeom prst="roundRect">
            <a:avLst>
              <a:gd name="adj" fmla="val 11215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23" name="pillar_icon_2_bg"/>
          <p:cNvSpPr/>
          <p:nvPr/>
        </p:nvSpPr>
        <p:spPr>
          <a:xfrm>
            <a:off x="3913632" y="3602736"/>
            <a:ext cx="612648" cy="612648"/>
          </a:xfrm>
          <a:prstGeom prst="ellipse">
            <a:avLst/>
          </a:prstGeom>
          <a:solidFill>
            <a:srgbClr val="3A2347"/>
          </a:solidFill>
          <a:ln/>
        </p:spPr>
      </p:sp>
      <p:pic>
        <p:nvPicPr>
          <p:cNvPr id="24" name="pillar_icon_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415" y="3737519"/>
            <a:ext cx="343083" cy="343083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709160" y="3547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3FA"/>
                </a:solidFill>
              </a:rPr>
              <a:t>寝つきと目覚め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4709160" y="387705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CD8"/>
                </a:solidFill>
              </a:rPr>
              <a:t>入眠サウンドとアラーム・スヌーズで、寝る前と起きる時を手伝う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利用の流れ</a:t>
            </a:r>
            <a:endParaRPr lang="en-US" sz="3000" dirty="0"/>
          </a:p>
        </p:txBody>
      </p:sp>
      <p:sp>
        <p:nvSpPr>
          <p:cNvPr id="3" name="step_no_bg_0"/>
          <p:cNvSpPr/>
          <p:nvPr/>
        </p:nvSpPr>
        <p:spPr>
          <a:xfrm>
            <a:off x="566928" y="1051560"/>
            <a:ext cx="384048" cy="384048"/>
          </a:xfrm>
          <a:prstGeom prst="ellipse">
            <a:avLst/>
          </a:prstGeom>
          <a:solidFill>
            <a:srgbClr val="F08C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222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103327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3FA"/>
                </a:solidFill>
              </a:rPr>
              <a:t>初回設定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261872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298C2"/>
                </a:solidFill>
              </a:rPr>
              <a:t>同意・置き方・接続</a:t>
            </a:r>
            <a:endParaRPr lang="en-US" sz="1000" dirty="0"/>
          </a:p>
        </p:txBody>
      </p:sp>
      <p:sp>
        <p:nvSpPr>
          <p:cNvPr id="7" name="flow_screen_0_frame"/>
          <p:cNvSpPr/>
          <p:nvPr/>
        </p:nvSpPr>
        <p:spPr>
          <a:xfrm>
            <a:off x="594360" y="1645920"/>
            <a:ext cx="1401285" cy="2926080"/>
          </a:xfrm>
          <a:prstGeom prst="roundRect">
            <a:avLst>
              <a:gd name="adj" fmla="val 9136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8" name="flow_screen_0" descr="flow_screen_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1309845" cy="2834640"/>
          </a:xfrm>
          <a:prstGeom prst="rect">
            <a:avLst/>
          </a:prstGeom>
        </p:spPr>
      </p:pic>
      <p:sp>
        <p:nvSpPr>
          <p:cNvPr id="9" name="step_no_bg_1"/>
          <p:cNvSpPr/>
          <p:nvPr/>
        </p:nvSpPr>
        <p:spPr>
          <a:xfrm>
            <a:off x="2212848" y="1051560"/>
            <a:ext cx="384048" cy="384048"/>
          </a:xfrm>
          <a:prstGeom prst="ellipse">
            <a:avLst/>
          </a:prstGeom>
          <a:solidFill>
            <a:srgbClr val="F08C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212848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222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670048" y="103327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3FA"/>
                </a:solidFill>
              </a:rPr>
              <a:t>寝室の設定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261872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298C2"/>
                </a:solidFill>
              </a:rPr>
              <a:t>カーテンとアラーム</a:t>
            </a:r>
            <a:endParaRPr lang="en-US" sz="1000" dirty="0"/>
          </a:p>
        </p:txBody>
      </p:sp>
      <p:sp>
        <p:nvSpPr>
          <p:cNvPr id="13" name="flow_screen_1_frame"/>
          <p:cNvSpPr/>
          <p:nvPr/>
        </p:nvSpPr>
        <p:spPr>
          <a:xfrm>
            <a:off x="2240280" y="1645920"/>
            <a:ext cx="1401285" cy="2926080"/>
          </a:xfrm>
          <a:prstGeom prst="roundRect">
            <a:avLst>
              <a:gd name="adj" fmla="val 9136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14" name="flow_screen_1" descr="flow_screen_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91640"/>
            <a:ext cx="1309845" cy="2834640"/>
          </a:xfrm>
          <a:prstGeom prst="rect">
            <a:avLst/>
          </a:prstGeom>
        </p:spPr>
      </p:pic>
      <p:sp>
        <p:nvSpPr>
          <p:cNvPr id="15" name="step_no_bg_2"/>
          <p:cNvSpPr/>
          <p:nvPr/>
        </p:nvSpPr>
        <p:spPr>
          <a:xfrm>
            <a:off x="3858768" y="1051560"/>
            <a:ext cx="384048" cy="384048"/>
          </a:xfrm>
          <a:prstGeom prst="ellipse">
            <a:avLst/>
          </a:prstGeom>
          <a:solidFill>
            <a:srgbClr val="F08CA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858768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222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315968" y="103327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3FA"/>
                </a:solidFill>
              </a:rPr>
              <a:t>寝る前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4315968" y="1261872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298C2"/>
                </a:solidFill>
              </a:rPr>
              <a:t>サウンドと計測開始</a:t>
            </a:r>
            <a:endParaRPr lang="en-US" sz="1000" dirty="0"/>
          </a:p>
        </p:txBody>
      </p:sp>
      <p:sp>
        <p:nvSpPr>
          <p:cNvPr id="19" name="flow_screen_2_frame"/>
          <p:cNvSpPr/>
          <p:nvPr/>
        </p:nvSpPr>
        <p:spPr>
          <a:xfrm>
            <a:off x="3886200" y="1645920"/>
            <a:ext cx="1401285" cy="2926080"/>
          </a:xfrm>
          <a:prstGeom prst="roundRect">
            <a:avLst>
              <a:gd name="adj" fmla="val 9136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20" name="flow_screen_2" descr="flow_screen_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691640"/>
            <a:ext cx="1309845" cy="2834640"/>
          </a:xfrm>
          <a:prstGeom prst="rect">
            <a:avLst/>
          </a:prstGeom>
        </p:spPr>
      </p:pic>
      <p:sp>
        <p:nvSpPr>
          <p:cNvPr id="21" name="step_no_bg_3"/>
          <p:cNvSpPr/>
          <p:nvPr/>
        </p:nvSpPr>
        <p:spPr>
          <a:xfrm>
            <a:off x="5504688" y="1051560"/>
            <a:ext cx="384048" cy="384048"/>
          </a:xfrm>
          <a:prstGeom prst="ellipse">
            <a:avLst/>
          </a:prstGeom>
          <a:solidFill>
            <a:srgbClr val="F08CA8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504688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222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961888" y="103327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3FA"/>
                </a:solidFill>
              </a:rPr>
              <a:t>起きたら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5961888" y="1261872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298C2"/>
                </a:solidFill>
              </a:rPr>
              <a:t>スコアとアドバイス</a:t>
            </a:r>
            <a:endParaRPr lang="en-US" sz="1000" dirty="0"/>
          </a:p>
        </p:txBody>
      </p:sp>
      <p:sp>
        <p:nvSpPr>
          <p:cNvPr id="25" name="flow_screen_3_frame"/>
          <p:cNvSpPr/>
          <p:nvPr/>
        </p:nvSpPr>
        <p:spPr>
          <a:xfrm>
            <a:off x="5532120" y="1645920"/>
            <a:ext cx="1401285" cy="2926080"/>
          </a:xfrm>
          <a:prstGeom prst="roundRect">
            <a:avLst>
              <a:gd name="adj" fmla="val 9136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26" name="flow_screen_3" descr="flow_screen_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91640"/>
            <a:ext cx="1309845" cy="2834640"/>
          </a:xfrm>
          <a:prstGeom prst="rect">
            <a:avLst/>
          </a:prstGeom>
        </p:spPr>
      </p:pic>
      <p:sp>
        <p:nvSpPr>
          <p:cNvPr id="27" name="step_no_bg_4"/>
          <p:cNvSpPr/>
          <p:nvPr/>
        </p:nvSpPr>
        <p:spPr>
          <a:xfrm>
            <a:off x="7150608" y="1051560"/>
            <a:ext cx="384048" cy="384048"/>
          </a:xfrm>
          <a:prstGeom prst="ellipse">
            <a:avLst/>
          </a:prstGeom>
          <a:solidFill>
            <a:srgbClr val="F08CA8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150608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222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607808" y="103327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F3FA"/>
                </a:solidFill>
              </a:rPr>
              <a:t>見直す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7607808" y="1261872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298C2"/>
                </a:solidFill>
              </a:rPr>
              <a:t>日別の詳細と傾向</a:t>
            </a:r>
            <a:endParaRPr lang="en-US" sz="1000" dirty="0"/>
          </a:p>
        </p:txBody>
      </p:sp>
      <p:sp>
        <p:nvSpPr>
          <p:cNvPr id="31" name="flow_screen_4_frame"/>
          <p:cNvSpPr/>
          <p:nvPr/>
        </p:nvSpPr>
        <p:spPr>
          <a:xfrm>
            <a:off x="7178040" y="1645920"/>
            <a:ext cx="1401285" cy="2926080"/>
          </a:xfrm>
          <a:prstGeom prst="roundRect">
            <a:avLst>
              <a:gd name="adj" fmla="val 9136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32" name="flow_screen_4" descr="flow_screen_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691640"/>
            <a:ext cx="1309845" cy="2834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主要画面：朝に見る画面</a:t>
            </a:r>
            <a:endParaRPr lang="en-US" sz="3000" dirty="0"/>
          </a:p>
        </p:txBody>
      </p:sp>
      <p:sp>
        <p:nvSpPr>
          <p:cNvPr id="3" name="am_screen_0_frame"/>
          <p:cNvSpPr/>
          <p:nvPr/>
        </p:nvSpPr>
        <p:spPr>
          <a:xfrm>
            <a:off x="457200" y="1005840"/>
            <a:ext cx="1591424" cy="3337560"/>
          </a:xfrm>
          <a:prstGeom prst="roundRect">
            <a:avLst>
              <a:gd name="adj" fmla="val 8044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4" name="am_screen_0" descr="am_screen_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1499984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43708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ホーム</a:t>
            </a:r>
            <a:endParaRPr lang="en-US" sz="1200" dirty="0"/>
          </a:p>
        </p:txBody>
      </p:sp>
      <p:sp>
        <p:nvSpPr>
          <p:cNvPr id="6" name="am_screen_1_frame"/>
          <p:cNvSpPr/>
          <p:nvPr/>
        </p:nvSpPr>
        <p:spPr>
          <a:xfrm>
            <a:off x="2240280" y="1005840"/>
            <a:ext cx="1591424" cy="3337560"/>
          </a:xfrm>
          <a:prstGeom prst="roundRect">
            <a:avLst>
              <a:gd name="adj" fmla="val 8044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7" name="am_screen_1" descr="am_screen_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51560"/>
            <a:ext cx="1499984" cy="3246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86000" y="43708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履歴</a:t>
            </a:r>
            <a:endParaRPr lang="en-US" sz="1200" dirty="0"/>
          </a:p>
        </p:txBody>
      </p:sp>
      <p:sp>
        <p:nvSpPr>
          <p:cNvPr id="9" name="am_screen_2_frame"/>
          <p:cNvSpPr/>
          <p:nvPr/>
        </p:nvSpPr>
        <p:spPr>
          <a:xfrm>
            <a:off x="4023360" y="1005840"/>
            <a:ext cx="1591424" cy="3337560"/>
          </a:xfrm>
          <a:prstGeom prst="roundRect">
            <a:avLst>
              <a:gd name="adj" fmla="val 8044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10" name="am_screen_2" descr="am_screen_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051560"/>
            <a:ext cx="1499984" cy="3246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69080" y="43708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日別の詳細</a:t>
            </a:r>
            <a:endParaRPr lang="en-US" sz="1200" dirty="0"/>
          </a:p>
        </p:txBody>
      </p:sp>
      <p:sp>
        <p:nvSpPr>
          <p:cNvPr id="12" name="am_point_0"/>
          <p:cNvSpPr/>
          <p:nvPr/>
        </p:nvSpPr>
        <p:spPr>
          <a:xfrm>
            <a:off x="5897880" y="1097280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080760" y="1216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3FA"/>
                </a:solidFill>
              </a:rPr>
              <a:t>保存済みの最新の結果を、開いてすぐ表示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080760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8C2"/>
                </a:solidFill>
              </a:rPr>
              <a:t>分析中は前回の結果を薄く出して待たせない</a:t>
            </a:r>
            <a:endParaRPr lang="en-US" sz="1100" dirty="0"/>
          </a:p>
        </p:txBody>
      </p:sp>
      <p:sp>
        <p:nvSpPr>
          <p:cNvPr id="15" name="am_point_1"/>
          <p:cNvSpPr/>
          <p:nvPr/>
        </p:nvSpPr>
        <p:spPr>
          <a:xfrm>
            <a:off x="5897880" y="2212848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08076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3FA"/>
                </a:solidFill>
              </a:rPr>
              <a:t>取れなかった時間と理由を必ず表示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080760" y="27797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8C2"/>
                </a:solidFill>
              </a:rPr>
              <a:t>欠損は斜線、不足の夜は「参考値」</a:t>
            </a:r>
            <a:endParaRPr lang="en-US" sz="1100" dirty="0"/>
          </a:p>
        </p:txBody>
      </p:sp>
      <p:sp>
        <p:nvSpPr>
          <p:cNvPr id="18" name="am_point_2"/>
          <p:cNvSpPr/>
          <p:nvPr/>
        </p:nvSpPr>
        <p:spPr>
          <a:xfrm>
            <a:off x="5897880" y="3328416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080760" y="3447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3FA"/>
                </a:solidFill>
              </a:rPr>
              <a:t>推定は「推定」と書いて断定しない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080760" y="3895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8C2"/>
                </a:solidFill>
              </a:rPr>
              <a:t>深い眠りはスコアに入れない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主要画面：夜と寝室の画面</a:t>
            </a:r>
            <a:endParaRPr lang="en-US" sz="3000" dirty="0"/>
          </a:p>
        </p:txBody>
      </p:sp>
      <p:sp>
        <p:nvSpPr>
          <p:cNvPr id="3" name="pm_screen_0_frame"/>
          <p:cNvSpPr/>
          <p:nvPr/>
        </p:nvSpPr>
        <p:spPr>
          <a:xfrm>
            <a:off x="457200" y="1005840"/>
            <a:ext cx="1591424" cy="3337560"/>
          </a:xfrm>
          <a:prstGeom prst="roundRect">
            <a:avLst>
              <a:gd name="adj" fmla="val 8044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4" name="pm_screen_0" descr="pm_screen_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1499984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43708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おやすみ</a:t>
            </a:r>
            <a:endParaRPr lang="en-US" sz="1200" dirty="0"/>
          </a:p>
        </p:txBody>
      </p:sp>
      <p:sp>
        <p:nvSpPr>
          <p:cNvPr id="6" name="pm_screen_1_frame"/>
          <p:cNvSpPr/>
          <p:nvPr/>
        </p:nvSpPr>
        <p:spPr>
          <a:xfrm>
            <a:off x="2240280" y="1005840"/>
            <a:ext cx="1591424" cy="3337560"/>
          </a:xfrm>
          <a:prstGeom prst="roundRect">
            <a:avLst>
              <a:gd name="adj" fmla="val 8044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7" name="pm_screen_1" descr="pm_screen_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51560"/>
            <a:ext cx="1499984" cy="32461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286000" y="43708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アラーム鳴動</a:t>
            </a:r>
            <a:endParaRPr lang="en-US" sz="1200" dirty="0"/>
          </a:p>
        </p:txBody>
      </p:sp>
      <p:sp>
        <p:nvSpPr>
          <p:cNvPr id="9" name="pm_screen_2_frame"/>
          <p:cNvSpPr/>
          <p:nvPr/>
        </p:nvSpPr>
        <p:spPr>
          <a:xfrm>
            <a:off x="4023360" y="1005840"/>
            <a:ext cx="1591424" cy="3337560"/>
          </a:xfrm>
          <a:prstGeom prst="roundRect">
            <a:avLst>
              <a:gd name="adj" fmla="val 8044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10" name="pm_screen_2" descr="pm_screen_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051560"/>
            <a:ext cx="1499984" cy="3246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69080" y="43708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寝室</a:t>
            </a:r>
            <a:endParaRPr lang="en-US" sz="1200" dirty="0"/>
          </a:p>
        </p:txBody>
      </p:sp>
      <p:sp>
        <p:nvSpPr>
          <p:cNvPr id="12" name="pm_point_0"/>
          <p:cNvSpPr/>
          <p:nvPr/>
        </p:nvSpPr>
        <p:spPr>
          <a:xfrm>
            <a:off x="5897880" y="1097280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080760" y="1216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3FA"/>
                </a:solidFill>
              </a:rPr>
              <a:t>前回の設定のまま、1 タップで計測開始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080760" y="1664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8C2"/>
                </a:solidFill>
              </a:rPr>
              <a:t>サウンド・タイマー・アラームを 1 画面に</a:t>
            </a:r>
            <a:endParaRPr lang="en-US" sz="1100" dirty="0"/>
          </a:p>
        </p:txBody>
      </p:sp>
      <p:sp>
        <p:nvSpPr>
          <p:cNvPr id="15" name="pm_point_1"/>
          <p:cNvSpPr/>
          <p:nvPr/>
        </p:nvSpPr>
        <p:spPr>
          <a:xfrm>
            <a:off x="5897880" y="2212848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08076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3FA"/>
                </a:solidFill>
              </a:rPr>
              <a:t>寝ぼけていても押せる大きな「止める」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080760" y="27797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8C2"/>
                </a:solidFill>
              </a:rPr>
              <a:t>スヌーズの残り回数を表示</a:t>
            </a:r>
            <a:endParaRPr lang="en-US" sz="1100" dirty="0"/>
          </a:p>
        </p:txBody>
      </p:sp>
      <p:sp>
        <p:nvSpPr>
          <p:cNvPr id="18" name="pm_point_2"/>
          <p:cNvSpPr/>
          <p:nvPr/>
        </p:nvSpPr>
        <p:spPr>
          <a:xfrm>
            <a:off x="5897880" y="3328416"/>
            <a:ext cx="2788920" cy="960120"/>
          </a:xfrm>
          <a:prstGeom prst="roundRect">
            <a:avLst>
              <a:gd name="adj" fmla="val 11429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080760" y="3447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F3FA"/>
                </a:solidFill>
              </a:rPr>
              <a:t>カーテンは確認できてから「成功」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080760" y="3895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298C2"/>
                </a:solidFill>
              </a:rPr>
              <a:t>依頼中・成功・失敗・未確認を区別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 の仕組み</a:t>
            </a:r>
            <a:endParaRPr lang="en-US" sz="3000" dirty="0"/>
          </a:p>
        </p:txBody>
      </p:sp>
      <p:sp>
        <p:nvSpPr>
          <p:cNvPr id="3" name="pipe_0"/>
          <p:cNvSpPr/>
          <p:nvPr/>
        </p:nvSpPr>
        <p:spPr>
          <a:xfrm>
            <a:off x="457200" y="1143000"/>
            <a:ext cx="1216152" cy="1828800"/>
          </a:xfrm>
          <a:prstGeom prst="roundRect">
            <a:avLst>
              <a:gd name="adj" fmla="val 9023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4" name="pipe_icon_0_bg"/>
          <p:cNvSpPr/>
          <p:nvPr/>
        </p:nvSpPr>
        <p:spPr>
          <a:xfrm>
            <a:off x="804672" y="1298448"/>
            <a:ext cx="530352" cy="530352"/>
          </a:xfrm>
          <a:prstGeom prst="ellipse">
            <a:avLst/>
          </a:prstGeom>
          <a:solidFill>
            <a:srgbClr val="26306A"/>
          </a:solidFill>
          <a:ln/>
        </p:spPr>
      </p:sp>
      <p:pic>
        <p:nvPicPr>
          <p:cNvPr id="5" name="pipe_icon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49" y="1415125"/>
            <a:ext cx="296997" cy="29699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90195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3FA"/>
                </a:solidFill>
              </a:rPr>
              <a:t>センサー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240280"/>
            <a:ext cx="1124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加速度 50 Hz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マイク 16 kHz</a:t>
            </a:r>
            <a:endParaRPr lang="en-US" sz="1050" dirty="0"/>
          </a:p>
        </p:txBody>
      </p:sp>
      <p:sp>
        <p:nvSpPr>
          <p:cNvPr id="8" name="pipe_arrow_0"/>
          <p:cNvSpPr/>
          <p:nvPr/>
        </p:nvSpPr>
        <p:spPr>
          <a:xfrm>
            <a:off x="1700784" y="2057400"/>
            <a:ext cx="137160" cy="0"/>
          </a:xfrm>
          <a:prstGeom prst="line">
            <a:avLst/>
          </a:prstGeom>
          <a:noFill/>
          <a:ln w="19050">
            <a:solidFill>
              <a:srgbClr val="9298C2"/>
            </a:solidFill>
            <a:prstDash val="solid"/>
            <a:tailEnd type="triangle"/>
          </a:ln>
        </p:spPr>
      </p:sp>
      <p:sp>
        <p:nvSpPr>
          <p:cNvPr id="9" name="pipe_1"/>
          <p:cNvSpPr/>
          <p:nvPr/>
        </p:nvSpPr>
        <p:spPr>
          <a:xfrm>
            <a:off x="1856232" y="1143000"/>
            <a:ext cx="1216152" cy="1828800"/>
          </a:xfrm>
          <a:prstGeom prst="roundRect">
            <a:avLst>
              <a:gd name="adj" fmla="val 9023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0" name="pipe_icon_1_bg"/>
          <p:cNvSpPr/>
          <p:nvPr/>
        </p:nvSpPr>
        <p:spPr>
          <a:xfrm>
            <a:off x="2203704" y="1298448"/>
            <a:ext cx="530352" cy="530352"/>
          </a:xfrm>
          <a:prstGeom prst="ellipse">
            <a:avLst/>
          </a:prstGeom>
          <a:solidFill>
            <a:srgbClr val="26306A"/>
          </a:solidFill>
          <a:ln/>
        </p:spPr>
      </p:sp>
      <p:pic>
        <p:nvPicPr>
          <p:cNvPr id="11" name="pipe_icon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381" y="1415125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01952" y="190195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3FA"/>
                </a:solidFill>
              </a:rPr>
              <a:t>30 秒の特徴量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901952" y="2240280"/>
            <a:ext cx="1124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生データは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保存しない</a:t>
            </a:r>
            <a:endParaRPr lang="en-US" sz="1050" dirty="0"/>
          </a:p>
        </p:txBody>
      </p:sp>
      <p:sp>
        <p:nvSpPr>
          <p:cNvPr id="14" name="pipe_arrow_1"/>
          <p:cNvSpPr/>
          <p:nvPr/>
        </p:nvSpPr>
        <p:spPr>
          <a:xfrm>
            <a:off x="3099816" y="2057400"/>
            <a:ext cx="137160" cy="0"/>
          </a:xfrm>
          <a:prstGeom prst="line">
            <a:avLst/>
          </a:prstGeom>
          <a:noFill/>
          <a:ln w="19050">
            <a:solidFill>
              <a:srgbClr val="9298C2"/>
            </a:solidFill>
            <a:prstDash val="solid"/>
            <a:tailEnd type="triangle"/>
          </a:ln>
        </p:spPr>
      </p:sp>
      <p:sp>
        <p:nvSpPr>
          <p:cNvPr id="15" name="pipe_2"/>
          <p:cNvSpPr/>
          <p:nvPr/>
        </p:nvSpPr>
        <p:spPr>
          <a:xfrm>
            <a:off x="3255264" y="1143000"/>
            <a:ext cx="1216152" cy="1828800"/>
          </a:xfrm>
          <a:prstGeom prst="roundRect">
            <a:avLst>
              <a:gd name="adj" fmla="val 9023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6" name="pipe_icon_2_bg"/>
          <p:cNvSpPr/>
          <p:nvPr/>
        </p:nvSpPr>
        <p:spPr>
          <a:xfrm>
            <a:off x="3602736" y="1298448"/>
            <a:ext cx="530352" cy="530352"/>
          </a:xfrm>
          <a:prstGeom prst="ellipse">
            <a:avLst/>
          </a:prstGeom>
          <a:solidFill>
            <a:srgbClr val="26306A"/>
          </a:solidFill>
          <a:ln/>
        </p:spPr>
      </p:sp>
      <p:pic>
        <p:nvPicPr>
          <p:cNvPr id="17" name="pipe_icon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413" y="1415125"/>
            <a:ext cx="296997" cy="29699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300984" y="190195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3FA"/>
                </a:solidFill>
              </a:rPr>
              <a:t>品質判定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300984" y="2240280"/>
            <a:ext cx="1124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分析可能・不足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・取得失敗</a:t>
            </a:r>
            <a:endParaRPr lang="en-US" sz="1050" dirty="0"/>
          </a:p>
        </p:txBody>
      </p:sp>
      <p:sp>
        <p:nvSpPr>
          <p:cNvPr id="20" name="pipe_arrow_2"/>
          <p:cNvSpPr/>
          <p:nvPr/>
        </p:nvSpPr>
        <p:spPr>
          <a:xfrm>
            <a:off x="4498848" y="2057400"/>
            <a:ext cx="137160" cy="0"/>
          </a:xfrm>
          <a:prstGeom prst="line">
            <a:avLst/>
          </a:prstGeom>
          <a:noFill/>
          <a:ln w="19050">
            <a:solidFill>
              <a:srgbClr val="9298C2"/>
            </a:solidFill>
            <a:prstDash val="solid"/>
            <a:tailEnd type="triangle"/>
          </a:ln>
        </p:spPr>
      </p:sp>
      <p:sp>
        <p:nvSpPr>
          <p:cNvPr id="21" name="pipe_3"/>
          <p:cNvSpPr/>
          <p:nvPr/>
        </p:nvSpPr>
        <p:spPr>
          <a:xfrm>
            <a:off x="4654296" y="1143000"/>
            <a:ext cx="1216152" cy="1828800"/>
          </a:xfrm>
          <a:prstGeom prst="roundRect">
            <a:avLst>
              <a:gd name="adj" fmla="val 9023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22" name="pipe_icon_3_bg"/>
          <p:cNvSpPr/>
          <p:nvPr/>
        </p:nvSpPr>
        <p:spPr>
          <a:xfrm>
            <a:off x="5001768" y="1298448"/>
            <a:ext cx="530352" cy="530352"/>
          </a:xfrm>
          <a:prstGeom prst="ellipse">
            <a:avLst/>
          </a:prstGeom>
          <a:solidFill>
            <a:srgbClr val="26306A"/>
          </a:solidFill>
          <a:ln/>
        </p:spPr>
      </p:sp>
      <p:pic>
        <p:nvPicPr>
          <p:cNvPr id="23" name="pipe_icon_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445" y="1415125"/>
            <a:ext cx="296997" cy="29699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00016" y="190195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3FA"/>
                </a:solidFill>
              </a:rPr>
              <a:t>段階推定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4700016" y="2240280"/>
            <a:ext cx="1124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覚醒・浅い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・深い（推定）</a:t>
            </a:r>
            <a:endParaRPr lang="en-US" sz="1050" dirty="0"/>
          </a:p>
        </p:txBody>
      </p:sp>
      <p:sp>
        <p:nvSpPr>
          <p:cNvPr id="26" name="pipe_arrow_3"/>
          <p:cNvSpPr/>
          <p:nvPr/>
        </p:nvSpPr>
        <p:spPr>
          <a:xfrm>
            <a:off x="5897880" y="2057400"/>
            <a:ext cx="137160" cy="0"/>
          </a:xfrm>
          <a:prstGeom prst="line">
            <a:avLst/>
          </a:prstGeom>
          <a:noFill/>
          <a:ln w="19050">
            <a:solidFill>
              <a:srgbClr val="9298C2"/>
            </a:solidFill>
            <a:prstDash val="solid"/>
            <a:tailEnd type="triangle"/>
          </a:ln>
        </p:spPr>
      </p:sp>
      <p:sp>
        <p:nvSpPr>
          <p:cNvPr id="27" name="pipe_4"/>
          <p:cNvSpPr/>
          <p:nvPr/>
        </p:nvSpPr>
        <p:spPr>
          <a:xfrm>
            <a:off x="6053328" y="1143000"/>
            <a:ext cx="1216152" cy="1828800"/>
          </a:xfrm>
          <a:prstGeom prst="roundRect">
            <a:avLst>
              <a:gd name="adj" fmla="val 9023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28" name="pipe_icon_4_bg"/>
          <p:cNvSpPr/>
          <p:nvPr/>
        </p:nvSpPr>
        <p:spPr>
          <a:xfrm>
            <a:off x="6400800" y="1298448"/>
            <a:ext cx="530352" cy="530352"/>
          </a:xfrm>
          <a:prstGeom prst="ellipse">
            <a:avLst/>
          </a:prstGeom>
          <a:solidFill>
            <a:srgbClr val="26306A"/>
          </a:solidFill>
          <a:ln/>
        </p:spPr>
      </p:sp>
      <p:pic>
        <p:nvPicPr>
          <p:cNvPr id="29" name="pipe_icon_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477" y="1415125"/>
            <a:ext cx="296997" cy="29699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099048" y="190195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3FA"/>
                </a:solidFill>
              </a:rPr>
              <a:t>スコア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6099048" y="2240280"/>
            <a:ext cx="1124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5 項目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100 点満点</a:t>
            </a:r>
            <a:endParaRPr lang="en-US" sz="1050" dirty="0"/>
          </a:p>
        </p:txBody>
      </p:sp>
      <p:sp>
        <p:nvSpPr>
          <p:cNvPr id="32" name="pipe_arrow_4"/>
          <p:cNvSpPr/>
          <p:nvPr/>
        </p:nvSpPr>
        <p:spPr>
          <a:xfrm>
            <a:off x="7296912" y="2057400"/>
            <a:ext cx="137160" cy="0"/>
          </a:xfrm>
          <a:prstGeom prst="line">
            <a:avLst/>
          </a:prstGeom>
          <a:noFill/>
          <a:ln w="19050">
            <a:solidFill>
              <a:srgbClr val="9298C2"/>
            </a:solidFill>
            <a:prstDash val="solid"/>
            <a:tailEnd type="triangle"/>
          </a:ln>
        </p:spPr>
      </p:sp>
      <p:sp>
        <p:nvSpPr>
          <p:cNvPr id="33" name="pipe_5"/>
          <p:cNvSpPr/>
          <p:nvPr/>
        </p:nvSpPr>
        <p:spPr>
          <a:xfrm>
            <a:off x="7452360" y="1143000"/>
            <a:ext cx="1216152" cy="1828800"/>
          </a:xfrm>
          <a:prstGeom prst="roundRect">
            <a:avLst>
              <a:gd name="adj" fmla="val 9023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34" name="pipe_icon_5_bg"/>
          <p:cNvSpPr/>
          <p:nvPr/>
        </p:nvSpPr>
        <p:spPr>
          <a:xfrm>
            <a:off x="7799832" y="1298448"/>
            <a:ext cx="530352" cy="530352"/>
          </a:xfrm>
          <a:prstGeom prst="ellipse">
            <a:avLst/>
          </a:prstGeom>
          <a:solidFill>
            <a:srgbClr val="26306A"/>
          </a:solidFill>
          <a:ln/>
        </p:spPr>
      </p:sp>
      <p:pic>
        <p:nvPicPr>
          <p:cNvPr id="35" name="pipe_icon_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6509" y="1415125"/>
            <a:ext cx="296997" cy="29699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498080" y="190195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F3FA"/>
                </a:solidFill>
              </a:rPr>
              <a:t>フィードバック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7498080" y="2240280"/>
            <a:ext cx="1124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13 の規則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BCD8"/>
                </a:solidFill>
              </a:rPr>
              <a:t>責めない文</a:t>
            </a:r>
            <a:endParaRPr lang="en-US" sz="1050" dirty="0"/>
          </a:p>
        </p:txBody>
      </p:sp>
      <p:sp>
        <p:nvSpPr>
          <p:cNvPr id="38" name="principle_0"/>
          <p:cNvSpPr/>
          <p:nvPr/>
        </p:nvSpPr>
        <p:spPr>
          <a:xfrm>
            <a:off x="457200" y="3200400"/>
            <a:ext cx="2615184" cy="1325880"/>
          </a:xfrm>
          <a:prstGeom prst="roundRect">
            <a:avLst>
              <a:gd name="adj" fmla="val 8276"/>
            </a:avLst>
          </a:prstGeom>
          <a:solidFill>
            <a:srgbClr val="232B5A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39" name="principle_icon_0_bg"/>
          <p:cNvSpPr/>
          <p:nvPr/>
        </p:nvSpPr>
        <p:spPr>
          <a:xfrm>
            <a:off x="640080" y="3364992"/>
            <a:ext cx="457200" cy="457200"/>
          </a:xfrm>
          <a:prstGeom prst="ellipse">
            <a:avLst/>
          </a:prstGeom>
          <a:solidFill>
            <a:srgbClr val="3A2347"/>
          </a:solidFill>
          <a:ln/>
        </p:spPr>
      </p:sp>
      <p:pic>
        <p:nvPicPr>
          <p:cNvPr id="40" name="principle_icon_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3465576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207008" y="3383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3FA"/>
                </a:solidFill>
              </a:rPr>
              <a:t>端末の中で完結</a:t>
            </a:r>
            <a:endParaRPr lang="en-US" sz="1350" dirty="0"/>
          </a:p>
        </p:txBody>
      </p:sp>
      <p:sp>
        <p:nvSpPr>
          <p:cNvPr id="42" name="Text 33"/>
          <p:cNvSpPr txBox="1"/>
          <p:nvPr/>
        </p:nvSpPr>
        <p:spPr>
          <a:xfrm>
            <a:off x="640080" y="3904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CD8"/>
                </a:solidFill>
              </a:rPr>
              <a:t>サーバーに送らない。暗号化した DB に保存</a:t>
            </a:r>
            <a:endParaRPr lang="en-US" sz="1100" dirty="0"/>
          </a:p>
        </p:txBody>
      </p:sp>
      <p:sp>
        <p:nvSpPr>
          <p:cNvPr id="43" name="principle_1"/>
          <p:cNvSpPr/>
          <p:nvPr/>
        </p:nvSpPr>
        <p:spPr>
          <a:xfrm>
            <a:off x="3264408" y="3200400"/>
            <a:ext cx="2615184" cy="1325880"/>
          </a:xfrm>
          <a:prstGeom prst="roundRect">
            <a:avLst>
              <a:gd name="adj" fmla="val 8276"/>
            </a:avLst>
          </a:prstGeom>
          <a:solidFill>
            <a:srgbClr val="232B5A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44" name="principle_icon_1_bg"/>
          <p:cNvSpPr/>
          <p:nvPr/>
        </p:nvSpPr>
        <p:spPr>
          <a:xfrm>
            <a:off x="3447288" y="3364992"/>
            <a:ext cx="457200" cy="457200"/>
          </a:xfrm>
          <a:prstGeom prst="ellipse">
            <a:avLst/>
          </a:prstGeom>
          <a:solidFill>
            <a:srgbClr val="3A2347"/>
          </a:solidFill>
          <a:ln/>
        </p:spPr>
      </p:sp>
      <p:pic>
        <p:nvPicPr>
          <p:cNvPr id="45" name="principle_icon_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872" y="3465576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4014216" y="3383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3FA"/>
                </a:solidFill>
              </a:rPr>
              <a:t>説明できる規則ベース</a:t>
            </a:r>
            <a:endParaRPr lang="en-US" sz="1350" dirty="0"/>
          </a:p>
        </p:txBody>
      </p:sp>
      <p:sp>
        <p:nvSpPr>
          <p:cNvPr id="47" name="Text 37"/>
          <p:cNvSpPr txBox="1"/>
          <p:nvPr/>
        </p:nvSpPr>
        <p:spPr>
          <a:xfrm>
            <a:off x="3447288" y="3904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CD8"/>
                </a:solidFill>
              </a:rPr>
              <a:t>しきい値は設定値。Python の参照実装で答え合わせ</a:t>
            </a:r>
            <a:endParaRPr lang="en-US" sz="1100" dirty="0"/>
          </a:p>
        </p:txBody>
      </p:sp>
      <p:sp>
        <p:nvSpPr>
          <p:cNvPr id="48" name="principle_2"/>
          <p:cNvSpPr/>
          <p:nvPr/>
        </p:nvSpPr>
        <p:spPr>
          <a:xfrm>
            <a:off x="6071616" y="3200400"/>
            <a:ext cx="2615184" cy="1325880"/>
          </a:xfrm>
          <a:prstGeom prst="roundRect">
            <a:avLst>
              <a:gd name="adj" fmla="val 8276"/>
            </a:avLst>
          </a:prstGeom>
          <a:solidFill>
            <a:srgbClr val="232B5A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49" name="principle_icon_2_bg"/>
          <p:cNvSpPr/>
          <p:nvPr/>
        </p:nvSpPr>
        <p:spPr>
          <a:xfrm>
            <a:off x="6254496" y="3364992"/>
            <a:ext cx="457200" cy="457200"/>
          </a:xfrm>
          <a:prstGeom prst="ellipse">
            <a:avLst/>
          </a:prstGeom>
          <a:solidFill>
            <a:srgbClr val="3A2347"/>
          </a:solidFill>
          <a:ln/>
        </p:spPr>
      </p:sp>
      <p:pic>
        <p:nvPicPr>
          <p:cNvPr id="50" name="principle_icon_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465576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6821424" y="3383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3FA"/>
                </a:solidFill>
              </a:rPr>
              <a:t>不確かなら断定しない</a:t>
            </a:r>
            <a:endParaRPr lang="en-US" sz="1350" dirty="0"/>
          </a:p>
        </p:txBody>
      </p:sp>
      <p:sp>
        <p:nvSpPr>
          <p:cNvPr id="52" name="Text 41"/>
          <p:cNvSpPr txBox="1"/>
          <p:nvPr/>
        </p:nvSpPr>
        <p:spPr>
          <a:xfrm>
            <a:off x="6254496" y="3904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CD8"/>
                </a:solidFill>
              </a:rPr>
              <a:t>参考値・推定と表示。足りなければ出さない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技術構成：SDL3 を中心に C で作る</a:t>
            </a:r>
            <a:endParaRPr lang="en-US" sz="3000" dirty="0"/>
          </a:p>
        </p:txBody>
      </p:sp>
      <p:sp>
        <p:nvSpPr>
          <p:cNvPr id="3" name="stat_card_1"/>
          <p:cNvSpPr/>
          <p:nvPr/>
        </p:nvSpPr>
        <p:spPr>
          <a:xfrm>
            <a:off x="457200" y="1143000"/>
            <a:ext cx="2926080" cy="1600200"/>
          </a:xfrm>
          <a:prstGeom prst="roundRect">
            <a:avLst>
              <a:gd name="adj" fmla="val 6857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08CA8"/>
                </a:solidFill>
              </a:rPr>
              <a:t>18 / 30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CD8"/>
                </a:solidFill>
              </a:rPr>
              <a:t>必要な OS の機能のうち、C（SDL3・NDK）で書く項目</a:t>
            </a:r>
            <a:endParaRPr lang="en-US" sz="1250" dirty="0"/>
          </a:p>
        </p:txBody>
      </p:sp>
      <p:sp>
        <p:nvSpPr>
          <p:cNvPr id="6" name="stat_card_2"/>
          <p:cNvSpPr/>
          <p:nvPr/>
        </p:nvSpPr>
        <p:spPr>
          <a:xfrm>
            <a:off x="457200" y="2926080"/>
            <a:ext cx="2926080" cy="1600200"/>
          </a:xfrm>
          <a:prstGeom prst="roundRect">
            <a:avLst>
              <a:gd name="adj" fmla="val 6857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04495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7788EE"/>
                </a:solidFill>
              </a:rPr>
              <a:t>8 クラス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CD8"/>
                </a:solidFill>
              </a:rPr>
              <a:t>Kotlin は OS への登録だけ（約 470 行の見込み）</a:t>
            </a:r>
            <a:endParaRPr lang="en-US" sz="1250" dirty="0"/>
          </a:p>
        </p:txBody>
      </p:sp>
      <p:sp>
        <p:nvSpPr>
          <p:cNvPr id="9" name="layer_0"/>
          <p:cNvSpPr/>
          <p:nvPr/>
        </p:nvSpPr>
        <p:spPr>
          <a:xfrm>
            <a:off x="3611880" y="1143000"/>
            <a:ext cx="5074920" cy="749808"/>
          </a:xfrm>
          <a:prstGeom prst="roundRect">
            <a:avLst>
              <a:gd name="adj" fmla="val 12195"/>
            </a:avLst>
          </a:prstGeom>
          <a:solidFill>
            <a:srgbClr val="3A2347"/>
          </a:solidFill>
          <a:ln w="12700">
            <a:solidFill>
              <a:srgbClr val="F08C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67328" y="12344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CA8"/>
                </a:solidFill>
              </a:rPr>
              <a:t>画面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2161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3FA"/>
                </a:solidFill>
              </a:rPr>
              <a:t>LVGL v9.6 ＋ SDL3（同意画面・鳴動画面も含めすべて）</a:t>
            </a:r>
            <a:endParaRPr lang="en-US" sz="1050" dirty="0"/>
          </a:p>
        </p:txBody>
      </p:sp>
      <p:sp>
        <p:nvSpPr>
          <p:cNvPr id="12" name="layer_1"/>
          <p:cNvSpPr/>
          <p:nvPr/>
        </p:nvSpPr>
        <p:spPr>
          <a:xfrm>
            <a:off x="3611880" y="2002536"/>
            <a:ext cx="5074920" cy="749808"/>
          </a:xfrm>
          <a:prstGeom prst="roundRect">
            <a:avLst>
              <a:gd name="adj" fmla="val 12195"/>
            </a:avLst>
          </a:prstGeom>
          <a:solidFill>
            <a:srgbClr val="26306A"/>
          </a:solidFill>
          <a:ln w="12700">
            <a:solidFill>
              <a:srgbClr val="7788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7328" y="209397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788EE"/>
                </a:solidFill>
              </a:rPr>
              <a:t>機能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07568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3FA"/>
                </a:solidFill>
              </a:rPr>
              <a:t>セッション・分析・フィードバック・カーテン制御・自動モード・アラーム・サウンド</a:t>
            </a:r>
            <a:endParaRPr lang="en-US" sz="1050" dirty="0"/>
          </a:p>
        </p:txBody>
      </p:sp>
      <p:sp>
        <p:nvSpPr>
          <p:cNvPr id="15" name="layer_2"/>
          <p:cNvSpPr/>
          <p:nvPr/>
        </p:nvSpPr>
        <p:spPr>
          <a:xfrm>
            <a:off x="3611880" y="2862072"/>
            <a:ext cx="5074920" cy="749808"/>
          </a:xfrm>
          <a:prstGeom prst="roundRect">
            <a:avLst>
              <a:gd name="adj" fmla="val 12195"/>
            </a:avLst>
          </a:prstGeom>
          <a:solidFill>
            <a:srgbClr val="1D3B3F"/>
          </a:solidFill>
          <a:ln w="12700">
            <a:solidFill>
              <a:srgbClr val="5FD3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67328" y="29535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D3A8"/>
                </a:solidFill>
              </a:rPr>
              <a:t>基盤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93522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3FA"/>
                </a:solidFill>
              </a:rPr>
              <a:t>SQLCipher（暗号化 DB）・libcurl＋cJSON・NDK（AAudio・ASensor）</a:t>
            </a:r>
            <a:endParaRPr lang="en-US" sz="1050" dirty="0"/>
          </a:p>
        </p:txBody>
      </p:sp>
      <p:sp>
        <p:nvSpPr>
          <p:cNvPr id="18" name="layer_3"/>
          <p:cNvSpPr/>
          <p:nvPr/>
        </p:nvSpPr>
        <p:spPr>
          <a:xfrm>
            <a:off x="3611880" y="3721608"/>
            <a:ext cx="5074920" cy="749808"/>
          </a:xfrm>
          <a:prstGeom prst="roundRect">
            <a:avLst>
              <a:gd name="adj" fmla="val 12195"/>
            </a:avLst>
          </a:prstGeom>
          <a:solidFill>
            <a:srgbClr val="3D3424"/>
          </a:solidFill>
          <a:ln w="12700">
            <a:solidFill>
              <a:srgbClr val="F2C2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67328" y="381304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26B"/>
                </a:solidFill>
              </a:rPr>
              <a:t>プラットフォーム層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7947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3FA"/>
                </a:solidFill>
              </a:rPr>
              <a:t>C：SDL3 の Android API（権限・トースト・URL）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2F3FA"/>
                </a:solidFill>
              </a:rPr>
              <a:t>Kotlin：夜間サービス・AlarmManager・通知・Keystore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プライバシーと安心のための設計</a:t>
            </a:r>
            <a:endParaRPr lang="en-US" sz="3000" dirty="0"/>
          </a:p>
        </p:txBody>
      </p:sp>
      <p:sp>
        <p:nvSpPr>
          <p:cNvPr id="3" name="privacy_0"/>
          <p:cNvSpPr/>
          <p:nvPr/>
        </p:nvSpPr>
        <p:spPr>
          <a:xfrm>
            <a:off x="457200" y="1143000"/>
            <a:ext cx="4005072" cy="1554480"/>
          </a:xfrm>
          <a:prstGeom prst="roundRect">
            <a:avLst>
              <a:gd name="adj" fmla="val 7059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4" name="privacy_icon_0_bg"/>
          <p:cNvSpPr/>
          <p:nvPr/>
        </p:nvSpPr>
        <p:spPr>
          <a:xfrm>
            <a:off x="685800" y="1399032"/>
            <a:ext cx="640080" cy="640080"/>
          </a:xfrm>
          <a:prstGeom prst="ellipse">
            <a:avLst/>
          </a:prstGeom>
          <a:solidFill>
            <a:srgbClr val="1D3B3F"/>
          </a:solidFill>
          <a:ln/>
        </p:spPr>
      </p:sp>
      <p:pic>
        <p:nvPicPr>
          <p:cNvPr id="5" name="privacy_icon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1539850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71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録音は保存しない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8013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CD8"/>
                </a:solidFill>
              </a:rPr>
              <a:t>音は端末の中ですぐ数値に変えて捨てる。録音を残すのは、設定でオンにした人だけ（7 日で自動削除）</a:t>
            </a:r>
            <a:endParaRPr lang="en-US" sz="1150" dirty="0"/>
          </a:p>
        </p:txBody>
      </p:sp>
      <p:sp>
        <p:nvSpPr>
          <p:cNvPr id="8" name="privacy_1"/>
          <p:cNvSpPr/>
          <p:nvPr/>
        </p:nvSpPr>
        <p:spPr>
          <a:xfrm>
            <a:off x="4681728" y="1143000"/>
            <a:ext cx="4005072" cy="1554480"/>
          </a:xfrm>
          <a:prstGeom prst="roundRect">
            <a:avLst>
              <a:gd name="adj" fmla="val 7059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9" name="privacy_icon_1_bg"/>
          <p:cNvSpPr/>
          <p:nvPr/>
        </p:nvSpPr>
        <p:spPr>
          <a:xfrm>
            <a:off x="4910328" y="1399032"/>
            <a:ext cx="640080" cy="640080"/>
          </a:xfrm>
          <a:prstGeom prst="ellipse">
            <a:avLst/>
          </a:prstGeom>
          <a:solidFill>
            <a:srgbClr val="1D3B3F"/>
          </a:solidFill>
          <a:ln/>
        </p:spPr>
      </p:sp>
      <p:pic>
        <p:nvPicPr>
          <p:cNvPr id="10" name="privacy_icon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146" y="1539850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33288" y="1371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端末の中だけ・暗号化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733288" y="18013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CD8"/>
                </a:solidFill>
              </a:rPr>
              <a:t>SQLCipher で暗号化し、鍵は Android Keystore で守る。サーバーには送らない</a:t>
            </a:r>
            <a:endParaRPr lang="en-US" sz="1150" dirty="0"/>
          </a:p>
        </p:txBody>
      </p:sp>
      <p:sp>
        <p:nvSpPr>
          <p:cNvPr id="13" name="privacy_2"/>
          <p:cNvSpPr/>
          <p:nvPr/>
        </p:nvSpPr>
        <p:spPr>
          <a:xfrm>
            <a:off x="457200" y="2862072"/>
            <a:ext cx="4005072" cy="1554480"/>
          </a:xfrm>
          <a:prstGeom prst="roundRect">
            <a:avLst>
              <a:gd name="adj" fmla="val 7059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4" name="privacy_icon_2_bg"/>
          <p:cNvSpPr/>
          <p:nvPr/>
        </p:nvSpPr>
        <p:spPr>
          <a:xfrm>
            <a:off x="685800" y="3118104"/>
            <a:ext cx="640080" cy="640080"/>
          </a:xfrm>
          <a:prstGeom prst="ellipse">
            <a:avLst/>
          </a:prstGeom>
          <a:solidFill>
            <a:srgbClr val="1D3B3F"/>
          </a:solidFill>
          <a:ln/>
        </p:spPr>
      </p:sp>
      <p:pic>
        <p:nvPicPr>
          <p:cNvPr id="15" name="privacy_icon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258922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090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いつでも削除・取り消し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5204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CD8"/>
                </a:solidFill>
              </a:rPr>
              <a:t>1 夜ずつ、またはすべて削除できる。同意を取り消すと計測が止まる</a:t>
            </a:r>
            <a:endParaRPr lang="en-US" sz="1150" dirty="0"/>
          </a:p>
        </p:txBody>
      </p:sp>
      <p:sp>
        <p:nvSpPr>
          <p:cNvPr id="18" name="privacy_3"/>
          <p:cNvSpPr/>
          <p:nvPr/>
        </p:nvSpPr>
        <p:spPr>
          <a:xfrm>
            <a:off x="4681728" y="2862072"/>
            <a:ext cx="4005072" cy="1554480"/>
          </a:xfrm>
          <a:prstGeom prst="roundRect">
            <a:avLst>
              <a:gd name="adj" fmla="val 7059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9" name="privacy_icon_3_bg"/>
          <p:cNvSpPr/>
          <p:nvPr/>
        </p:nvSpPr>
        <p:spPr>
          <a:xfrm>
            <a:off x="4910328" y="3118104"/>
            <a:ext cx="640080" cy="640080"/>
          </a:xfrm>
          <a:prstGeom prst="ellipse">
            <a:avLst/>
          </a:prstGeom>
          <a:solidFill>
            <a:srgbClr val="1D3B3F"/>
          </a:solidFill>
          <a:ln/>
        </p:spPr>
      </p:sp>
      <p:pic>
        <p:nvPicPr>
          <p:cNvPr id="20" name="privacy_icon_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1146" y="3258922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33288" y="3090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自動は初期オフ・手動が優先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733288" y="35204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8BCD8"/>
                </a:solidFill>
              </a:rPr>
              <a:t>自動モードは有効化の時に実行内容を説明する。手動操作はいつでも優先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検証結果（合成データでの動作確認）</a:t>
            </a:r>
            <a:endParaRPr lang="en-US" sz="3000" dirty="0"/>
          </a:p>
        </p:txBody>
      </p:sp>
      <p:sp>
        <p:nvSpPr>
          <p:cNvPr id="3" name="chart_card"/>
          <p:cNvSpPr/>
          <p:nvPr/>
        </p:nvSpPr>
        <p:spPr>
          <a:xfrm>
            <a:off x="457200" y="1097280"/>
            <a:ext cx="4892040" cy="3429000"/>
          </a:xfrm>
          <a:prstGeom prst="roundRect">
            <a:avLst>
              <a:gd name="adj" fmla="val 3200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161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BCD8"/>
                </a:solidFill>
              </a:rPr>
              <a:t>睡眠時間の推定の偏り（分、推定 − 正解）</a:t>
            </a:r>
            <a:endParaRPr lang="en-US" sz="1250" dirty="0"/>
          </a:p>
        </p:txBody>
      </p:sp>
      <p:graphicFrame>
        <p:nvGraphicFramePr>
          <p:cNvPr id="5" name="bias_chart" descr=""/>
          <p:cNvGraphicFramePr/>
          <p:nvPr/>
        </p:nvGraphicFramePr>
        <p:xfrm>
          <a:off x="594360" y="1554480"/>
          <a:ext cx="4617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at_0"/>
          <p:cNvSpPr/>
          <p:nvPr/>
        </p:nvSpPr>
        <p:spPr>
          <a:xfrm>
            <a:off x="5577840" y="1097280"/>
            <a:ext cx="3108960" cy="713232"/>
          </a:xfrm>
          <a:prstGeom prst="roundRect">
            <a:avLst>
              <a:gd name="adj" fmla="val 15385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0" y="118872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D3A8"/>
                </a:solidFill>
              </a:rPr>
              <a:t>11 / 11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18872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品質判定のケースに合格</a:t>
            </a:r>
            <a:endParaRPr lang="en-US" sz="1200" dirty="0"/>
          </a:p>
        </p:txBody>
      </p:sp>
      <p:sp>
        <p:nvSpPr>
          <p:cNvPr id="9" name="stat_1"/>
          <p:cNvSpPr/>
          <p:nvPr/>
        </p:nvSpPr>
        <p:spPr>
          <a:xfrm>
            <a:off x="5577840" y="1920240"/>
            <a:ext cx="3108960" cy="713232"/>
          </a:xfrm>
          <a:prstGeom prst="roundRect">
            <a:avLst>
              <a:gd name="adj" fmla="val 15385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01168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D3A8"/>
                </a:solidFill>
              </a:rPr>
              <a:t>5 / 5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0116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期待した規則が出た</a:t>
            </a:r>
            <a:endParaRPr lang="en-US" sz="1200" dirty="0"/>
          </a:p>
        </p:txBody>
      </p:sp>
      <p:sp>
        <p:nvSpPr>
          <p:cNvPr id="12" name="stat_2"/>
          <p:cNvSpPr/>
          <p:nvPr/>
        </p:nvSpPr>
        <p:spPr>
          <a:xfrm>
            <a:off x="5577840" y="2743200"/>
            <a:ext cx="3108960" cy="713232"/>
          </a:xfrm>
          <a:prstGeom prst="roundRect">
            <a:avLst>
              <a:gd name="adj" fmla="val 15385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283464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D3A8"/>
                </a:solidFill>
              </a:rPr>
              <a:t>0 件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28346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責める言葉・断定の言葉</a:t>
            </a:r>
            <a:endParaRPr lang="en-US" sz="1200" dirty="0"/>
          </a:p>
        </p:txBody>
      </p:sp>
      <p:sp>
        <p:nvSpPr>
          <p:cNvPr id="15" name="finding"/>
          <p:cNvSpPr/>
          <p:nvPr/>
        </p:nvSpPr>
        <p:spPr>
          <a:xfrm>
            <a:off x="5577840" y="3584448"/>
            <a:ext cx="3108960" cy="941832"/>
          </a:xfrm>
          <a:prstGeom prst="roundRect">
            <a:avLst>
              <a:gd name="adj" fmla="val 11650"/>
            </a:avLst>
          </a:prstGeom>
          <a:solidFill>
            <a:srgbClr val="3D3424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C26B"/>
                </a:solidFill>
              </a:rPr>
              <a:t>見つけた失敗例 → 仕様を修正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760720" y="395020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3FA"/>
                </a:solidFill>
              </a:rPr>
              <a:t>机の上に置いた夜が 100 点になった → この場合はスコアを出さない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デモの流れ</a:t>
            </a:r>
            <a:endParaRPr lang="en-US" sz="3000" dirty="0"/>
          </a:p>
        </p:txBody>
      </p:sp>
      <p:sp>
        <p:nvSpPr>
          <p:cNvPr id="3" name="demo_no_bg_0"/>
          <p:cNvSpPr/>
          <p:nvPr/>
        </p:nvSpPr>
        <p:spPr>
          <a:xfrm>
            <a:off x="502920" y="1170432"/>
            <a:ext cx="420624" cy="420624"/>
          </a:xfrm>
          <a:prstGeom prst="ellipse">
            <a:avLst/>
          </a:prstGeom>
          <a:solidFill>
            <a:srgbClr val="F08C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170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222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155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PC 版で初回設定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264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同意 → 置き方の確認 → 起きる時刻</a:t>
            </a:r>
            <a:endParaRPr lang="en-US" sz="1200" dirty="0"/>
          </a:p>
        </p:txBody>
      </p:sp>
      <p:sp>
        <p:nvSpPr>
          <p:cNvPr id="7" name="demo_no_bg_1"/>
          <p:cNvSpPr/>
          <p:nvPr/>
        </p:nvSpPr>
        <p:spPr>
          <a:xfrm>
            <a:off x="502920" y="1856232"/>
            <a:ext cx="420624" cy="420624"/>
          </a:xfrm>
          <a:prstGeom prst="ellipse">
            <a:avLst/>
          </a:prstGeom>
          <a:solidFill>
            <a:srgbClr val="F08CA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222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8013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おやすみを始める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1122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雨の音を 30 分のタイマーで再生し、計測を開始</a:t>
            </a:r>
            <a:endParaRPr lang="en-US" sz="1200" dirty="0"/>
          </a:p>
        </p:txBody>
      </p:sp>
      <p:sp>
        <p:nvSpPr>
          <p:cNvPr id="11" name="demo_no_bg_2"/>
          <p:cNvSpPr/>
          <p:nvPr/>
        </p:nvSpPr>
        <p:spPr>
          <a:xfrm>
            <a:off x="502920" y="2542032"/>
            <a:ext cx="420624" cy="420624"/>
          </a:xfrm>
          <a:prstGeom prst="ellipse">
            <a:avLst/>
          </a:prstGeom>
          <a:solidFill>
            <a:srgbClr val="F08C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222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871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時刻を早送りしてアラーム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7980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スヌーズ → 止める → 保存中 → 分析中</a:t>
            </a:r>
            <a:endParaRPr lang="en-US" sz="1200" dirty="0"/>
          </a:p>
        </p:txBody>
      </p:sp>
      <p:sp>
        <p:nvSpPr>
          <p:cNvPr id="15" name="demo_no_bg_3"/>
          <p:cNvSpPr/>
          <p:nvPr/>
        </p:nvSpPr>
        <p:spPr>
          <a:xfrm>
            <a:off x="502920" y="3227832"/>
            <a:ext cx="420624" cy="420624"/>
          </a:xfrm>
          <a:prstGeom prst="ellipse">
            <a:avLst/>
          </a:prstGeom>
          <a:solidFill>
            <a:srgbClr val="F08C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222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729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朝の結果を見る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838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スコア、眠りの帯、今日のアドバイス</a:t>
            </a:r>
            <a:endParaRPr lang="en-US" sz="1200" dirty="0"/>
          </a:p>
        </p:txBody>
      </p:sp>
      <p:sp>
        <p:nvSpPr>
          <p:cNvPr id="19" name="demo_no_bg_4"/>
          <p:cNvSpPr/>
          <p:nvPr/>
        </p:nvSpPr>
        <p:spPr>
          <a:xfrm>
            <a:off x="502920" y="3913632"/>
            <a:ext cx="420624" cy="420624"/>
          </a:xfrm>
          <a:prstGeom prst="ellipse">
            <a:avLst/>
          </a:prstGeom>
          <a:solidFill>
            <a:srgbClr val="F08C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222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587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寝室で自動モード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169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偽サーバーで失敗させ、「未確認」の表示を見せる</a:t>
            </a:r>
            <a:endParaRPr lang="en-US" sz="1200" dirty="0"/>
          </a:p>
        </p:txBody>
      </p:sp>
      <p:sp>
        <p:nvSpPr>
          <p:cNvPr id="23" name="demo_screen_alarm_frame"/>
          <p:cNvSpPr/>
          <p:nvPr/>
        </p:nvSpPr>
        <p:spPr>
          <a:xfrm>
            <a:off x="5989320" y="1005840"/>
            <a:ext cx="1654804" cy="3474720"/>
          </a:xfrm>
          <a:prstGeom prst="roundRect">
            <a:avLst>
              <a:gd name="adj" fmla="val 7736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24" name="demo_screen_alarm" descr="demo_screen_ala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1563364" cy="3383280"/>
          </a:xfrm>
          <a:prstGeom prst="rect">
            <a:avLst/>
          </a:prstGeom>
        </p:spPr>
      </p:pic>
      <p:sp>
        <p:nvSpPr>
          <p:cNvPr id="25" name="demo_screen_states_frame"/>
          <p:cNvSpPr/>
          <p:nvPr/>
        </p:nvSpPr>
        <p:spPr>
          <a:xfrm>
            <a:off x="7635240" y="1280160"/>
            <a:ext cx="1528045" cy="3200400"/>
          </a:xfrm>
          <a:prstGeom prst="roundRect">
            <a:avLst>
              <a:gd name="adj" fmla="val 8378"/>
            </a:avLst>
          </a:prstGeom>
          <a:solidFill>
            <a:srgbClr val="171B30"/>
          </a:solidFill>
          <a:ln w="12700">
            <a:solidFill>
              <a:srgbClr val="2B3050"/>
            </a:solidFill>
            <a:prstDash val="solid"/>
          </a:ln>
        </p:spPr>
      </p:sp>
      <p:pic>
        <p:nvPicPr>
          <p:cNvPr id="26" name="demo_screen_states" descr="demo_screen_sta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25880"/>
            <a:ext cx="1436605" cy="3108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未決事項と次のステップ</a:t>
            </a:r>
            <a:endParaRPr lang="en-US" sz="3000" dirty="0"/>
          </a:p>
        </p:txBody>
      </p:sp>
      <p:sp>
        <p:nvSpPr>
          <p:cNvPr id="3" name="open_items"/>
          <p:cNvSpPr/>
          <p:nvPr/>
        </p:nvSpPr>
        <p:spPr>
          <a:xfrm>
            <a:off x="457200" y="1097280"/>
            <a:ext cx="3931920" cy="3429000"/>
          </a:xfrm>
          <a:prstGeom prst="roundRect">
            <a:avLst>
              <a:gd name="adj" fmla="val 3200"/>
            </a:avLst>
          </a:prstGeom>
          <a:solidFill>
            <a:srgbClr val="1A2147"/>
          </a:solidFill>
          <a:ln w="9525">
            <a:solidFill>
              <a:srgbClr val="2A32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C26B"/>
                </a:solidFill>
              </a:rPr>
              <a:t>未決事項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3FA"/>
                </a:solidFill>
              </a:rPr>
              <a:t>カーテン 3 とハブの購入（費用の確認）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3FA"/>
                </a:solidFill>
              </a:rPr>
              <a:t>実データでのしきい値の調整（AI-7 第 2 段）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3FA"/>
                </a:solidFill>
              </a:rPr>
              <a:t>アクセシビリティをどこまで対象にするか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3FA"/>
                </a:solidFill>
              </a:rPr>
              <a:t>全画面通知とサービスの Google Play への申告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3FA"/>
                </a:solidFill>
              </a:rPr>
              <a:t>環境音・音楽の素材のライセンス確認</a:t>
            </a:r>
            <a:endParaRPr lang="en-US" sz="1300" dirty="0"/>
          </a:p>
        </p:txBody>
      </p:sp>
      <p:sp>
        <p:nvSpPr>
          <p:cNvPr id="6" name="milestone_badge_0"/>
          <p:cNvSpPr/>
          <p:nvPr/>
        </p:nvSpPr>
        <p:spPr>
          <a:xfrm>
            <a:off x="4663440" y="1097280"/>
            <a:ext cx="777240" cy="685800"/>
          </a:xfrm>
          <a:prstGeom prst="roundRect">
            <a:avLst>
              <a:gd name="adj" fmla="val 13333"/>
            </a:avLst>
          </a:prstGeom>
          <a:solidFill>
            <a:srgbClr val="F08CA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09728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1222"/>
                </a:solidFill>
              </a:rPr>
              <a:t>M0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1338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設計の確定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ADR・仕様・画面のレビュー</a:t>
            </a:r>
            <a:endParaRPr lang="en-US" sz="1200" dirty="0"/>
          </a:p>
        </p:txBody>
      </p:sp>
      <p:sp>
        <p:nvSpPr>
          <p:cNvPr id="10" name="milestone_badge_1"/>
          <p:cNvSpPr/>
          <p:nvPr/>
        </p:nvSpPr>
        <p:spPr>
          <a:xfrm>
            <a:off x="4663440" y="1965960"/>
            <a:ext cx="777240" cy="685800"/>
          </a:xfrm>
          <a:prstGeom prst="roundRect">
            <a:avLst>
              <a:gd name="adj" fmla="val 13333"/>
            </a:avLst>
          </a:prstGeom>
          <a:solidFill>
            <a:srgbClr val="232B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6596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3FA"/>
                </a:solidFill>
              </a:rPr>
              <a:t>M1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20025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リスクの試作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アラームと一晩の計測を実機で</a:t>
            </a:r>
            <a:endParaRPr lang="en-US" sz="1200" dirty="0"/>
          </a:p>
        </p:txBody>
      </p:sp>
      <p:sp>
        <p:nvSpPr>
          <p:cNvPr id="14" name="milestone_badge_2"/>
          <p:cNvSpPr/>
          <p:nvPr/>
        </p:nvSpPr>
        <p:spPr>
          <a:xfrm>
            <a:off x="4663440" y="2834640"/>
            <a:ext cx="777240" cy="685800"/>
          </a:xfrm>
          <a:prstGeom prst="roundRect">
            <a:avLst>
              <a:gd name="adj" fmla="val 13333"/>
            </a:avLst>
          </a:prstGeom>
          <a:solidFill>
            <a:srgbClr val="232B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283464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3FA"/>
                </a:solidFill>
              </a:rPr>
              <a:t>M2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2871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MVP の実装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計測・分析・画面・カーテン</a:t>
            </a:r>
            <a:endParaRPr lang="en-US" sz="1200" dirty="0"/>
          </a:p>
        </p:txBody>
      </p:sp>
      <p:sp>
        <p:nvSpPr>
          <p:cNvPr id="18" name="milestone_badge_3"/>
          <p:cNvSpPr/>
          <p:nvPr/>
        </p:nvSpPr>
        <p:spPr>
          <a:xfrm>
            <a:off x="4663440" y="3703320"/>
            <a:ext cx="777240" cy="685800"/>
          </a:xfrm>
          <a:prstGeom prst="roundRect">
            <a:avLst>
              <a:gd name="adj" fmla="val 13333"/>
            </a:avLst>
          </a:prstGeom>
          <a:solidFill>
            <a:srgbClr val="232B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370332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3FA"/>
                </a:solidFill>
              </a:rPr>
              <a:t>M3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7398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3FA"/>
                </a:solidFill>
              </a:rPr>
              <a:t>受け入れと発表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D8"/>
                </a:solidFill>
              </a:rPr>
              <a:t>PRD 7 章の条件を確認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298C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munoki Night">
  <a:themeElements>
    <a:clrScheme name="Nemunoki Night">
      <a:dk1>
        <a:srgbClr val="F2F3FA"/>
      </a:dk1>
      <a:lt1>
        <a:srgbClr val="0E1330"/>
      </a:lt1>
      <a:dk2>
        <a:srgbClr val="B8BCD8"/>
      </a:dk2>
      <a:lt2>
        <a:srgbClr val="1A2147"/>
      </a:lt2>
      <a:accent1>
        <a:srgbClr val="F08CA8"/>
      </a:accent1>
      <a:accent2>
        <a:srgbClr val="7788EE"/>
      </a:accent2>
      <a:accent3>
        <a:srgbClr val="5FD3A8"/>
      </a:accent3>
      <a:accent4>
        <a:srgbClr val="F2C26B"/>
      </a:accent4>
      <a:accent5>
        <a:srgbClr val="F09A6A"/>
      </a:accent5>
      <a:accent6>
        <a:srgbClr val="232B5A"/>
      </a:accent6>
      <a:hlink>
        <a:srgbClr val="F08CA8"/>
      </a:hlink>
      <a:folHlink>
        <a:srgbClr val="B7BEFF"/>
      </a:folHlink>
    </a:clrScheme>
    <a:fontScheme name="Nemunoki Night">
      <a:majorFont>
        <a:latin typeface="Yu Gothic"/>
        <a:ea typeface="Yu Gothic"/>
        <a:cs typeface=""/>
        <a:font script="Jpan" typeface="游ゴシック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ねむのき 発表資料（案）</dc:title>
  <dc:subject>PptxGenJS Presentation</dc:subject>
  <dc:creator>ねむのき開発チーム</dc:creator>
  <cp:lastModifiedBy>ねむのき開発チーム</cp:lastModifiedBy>
  <cp:revision>1</cp:revision>
  <dcterms:created xsi:type="dcterms:W3CDTF">2026-10-31T10:39:31Z</dcterms:created>
  <dcterms:modified xsi:type="dcterms:W3CDTF">2026-10-31T10:39:31Z</dcterms:modified>
</cp:coreProperties>
</file>